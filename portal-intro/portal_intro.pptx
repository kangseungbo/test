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포털 소개" id="{b7d7ec33-b5ac-bfa1-c009-cae84b551ef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교체 방법: 각 회색 와이어프레임 이미지를 우클릭 → [그림 바꾸기] → [파일에서]로 실제 캡처를 넣으면 크기·위치가 그대로 유지됩니다. 캡처는 16:9 비율(예: 1600x900)로 저장하면 가장 깔끔합니다. 포털 이름·문구·기능명은 텍스트를 직접 클릭해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l Overview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5943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1"/>
                </a:solidFill>
              </a:rPr>
              <a:t>PORTAL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OOO 통합 포털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365760"/>
            <a:ext cx="54251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흩어진 업무를 하나의 포털에서 — 검색·소통·결재·분석까지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portal.company.com</a:t>
            </a:r>
            <a:endParaRPr lang="en-US" sz="1400" dirty="0"/>
          </a:p>
        </p:txBody>
      </p:sp>
      <p:sp>
        <p:nvSpPr>
          <p:cNvPr id="5" name="main-frame"/>
          <p:cNvSpPr/>
          <p:nvPr/>
        </p:nvSpPr>
        <p:spPr>
          <a:xfrm>
            <a:off x="3344875" y="1371600"/>
            <a:ext cx="5501945" cy="3215030"/>
          </a:xfrm>
          <a:prstGeom prst="roundRect">
            <a:avLst>
              <a:gd name="adj" fmla="val 2275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50800" dir="5400000">
              <a:srgbClr val="2EC4B6">
                <a:alpha val="45000"/>
              </a:srgbClr>
            </a:outerShdw>
          </a:effectLst>
        </p:spPr>
      </p:sp>
      <p:sp>
        <p:nvSpPr>
          <p:cNvPr id="6" name="dot-0"/>
          <p:cNvSpPr/>
          <p:nvPr/>
        </p:nvSpPr>
        <p:spPr>
          <a:xfrm>
            <a:off x="3472891" y="1440180"/>
            <a:ext cx="91440" cy="914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dot-1"/>
          <p:cNvSpPr/>
          <p:nvPr/>
        </p:nvSpPr>
        <p:spPr>
          <a:xfrm>
            <a:off x="3619195" y="1440180"/>
            <a:ext cx="91440" cy="91440"/>
          </a:xfrm>
          <a:prstGeom prst="ellipse">
            <a:avLst/>
          </a:prstGeom>
          <a:solidFill>
            <a:srgbClr val="F6C177"/>
          </a:solidFill>
          <a:ln/>
        </p:spPr>
      </p:sp>
      <p:sp>
        <p:nvSpPr>
          <p:cNvPr id="8" name="dot-2"/>
          <p:cNvSpPr/>
          <p:nvPr/>
        </p:nvSpPr>
        <p:spPr>
          <a:xfrm>
            <a:off x="3765499" y="1440180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url-bar"/>
          <p:cNvSpPr/>
          <p:nvPr/>
        </p:nvSpPr>
        <p:spPr>
          <a:xfrm>
            <a:off x="4907128" y="1412748"/>
            <a:ext cx="237744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07128" y="14127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portal.company.com</a:t>
            </a:r>
            <a:endParaRPr lang="en-US" sz="800" dirty="0"/>
          </a:p>
        </p:txBody>
      </p:sp>
      <p:pic>
        <p:nvPicPr>
          <p:cNvPr id="11" name="screen-main" descr="메인 대시보드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1451" y="1591056"/>
            <a:ext cx="5428793" cy="2958998"/>
          </a:xfrm>
          <a:prstGeom prst="rect">
            <a:avLst/>
          </a:prstGeom>
        </p:spPr>
      </p:pic>
      <p:sp>
        <p:nvSpPr>
          <p:cNvPr id="12" name="main-label-bg"/>
          <p:cNvSpPr/>
          <p:nvPr/>
        </p:nvSpPr>
        <p:spPr>
          <a:xfrm>
            <a:off x="3527755" y="1755648"/>
            <a:ext cx="3931920" cy="457200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main-label"/>
          <p:cNvSpPr txBox="1"/>
          <p:nvPr/>
        </p:nvSpPr>
        <p:spPr>
          <a:xfrm>
            <a:off x="3710635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메인 대시보드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오늘의 업무 현황을 한 화면에</a:t>
            </a:r>
            <a:endParaRPr lang="en-US" sz="1400" dirty="0"/>
          </a:p>
        </p:txBody>
      </p:sp>
      <p:sp>
        <p:nvSpPr>
          <p:cNvPr id="14" name="frame-1"/>
          <p:cNvSpPr/>
          <p:nvPr/>
        </p:nvSpPr>
        <p:spPr>
          <a:xfrm>
            <a:off x="457200" y="1371600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screen-search" descr="통합 검색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613355" cy="1470355"/>
          </a:xfrm>
          <a:prstGeom prst="rect">
            <a:avLst/>
          </a:prstGeom>
        </p:spPr>
      </p:pic>
      <p:sp>
        <p:nvSpPr>
          <p:cNvPr id="16" name="label-bg-1"/>
          <p:cNvSpPr/>
          <p:nvPr/>
        </p:nvSpPr>
        <p:spPr>
          <a:xfrm>
            <a:off x="457200" y="2457907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17" name="badge-1"/>
          <p:cNvSpPr/>
          <p:nvPr/>
        </p:nvSpPr>
        <p:spPr>
          <a:xfrm>
            <a:off x="548640" y="2521915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48640" y="25219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label-1"/>
          <p:cNvSpPr txBox="1"/>
          <p:nvPr/>
        </p:nvSpPr>
        <p:spPr>
          <a:xfrm>
            <a:off x="877824" y="2457907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통합 검색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모든 자료 한 번에</a:t>
            </a:r>
            <a:endParaRPr lang="en-US" sz="1200" dirty="0"/>
          </a:p>
        </p:txBody>
      </p:sp>
      <p:sp>
        <p:nvSpPr>
          <p:cNvPr id="20" name="frame-2"/>
          <p:cNvSpPr/>
          <p:nvPr/>
        </p:nvSpPr>
        <p:spPr>
          <a:xfrm>
            <a:off x="457200" y="3116275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screen-board" descr="공지·게시판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16275"/>
            <a:ext cx="2613355" cy="1470355"/>
          </a:xfrm>
          <a:prstGeom prst="rect">
            <a:avLst/>
          </a:prstGeom>
        </p:spPr>
      </p:pic>
      <p:sp>
        <p:nvSpPr>
          <p:cNvPr id="22" name="label-bg-2"/>
          <p:cNvSpPr/>
          <p:nvPr/>
        </p:nvSpPr>
        <p:spPr>
          <a:xfrm>
            <a:off x="457200" y="4202582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23" name="badge-2"/>
          <p:cNvSpPr/>
          <p:nvPr/>
        </p:nvSpPr>
        <p:spPr>
          <a:xfrm>
            <a:off x="548640" y="426659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48640" y="42665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label-2"/>
          <p:cNvSpPr txBox="1"/>
          <p:nvPr/>
        </p:nvSpPr>
        <p:spPr>
          <a:xfrm>
            <a:off x="877824" y="4202582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공지·게시판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전사 소식 공유</a:t>
            </a:r>
            <a:endParaRPr lang="en-US" sz="1200" dirty="0"/>
          </a:p>
        </p:txBody>
      </p:sp>
      <p:sp>
        <p:nvSpPr>
          <p:cNvPr id="26" name="frame-3"/>
          <p:cNvSpPr/>
          <p:nvPr/>
        </p:nvSpPr>
        <p:spPr>
          <a:xfrm>
            <a:off x="9121140" y="1371600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screen-calendar" descr="일정 관리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0" y="1371600"/>
            <a:ext cx="2613355" cy="1470355"/>
          </a:xfrm>
          <a:prstGeom prst="rect">
            <a:avLst/>
          </a:prstGeom>
        </p:spPr>
      </p:pic>
      <p:sp>
        <p:nvSpPr>
          <p:cNvPr id="28" name="label-bg-3"/>
          <p:cNvSpPr/>
          <p:nvPr/>
        </p:nvSpPr>
        <p:spPr>
          <a:xfrm>
            <a:off x="9121140" y="2457907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29" name="badge-3"/>
          <p:cNvSpPr/>
          <p:nvPr/>
        </p:nvSpPr>
        <p:spPr>
          <a:xfrm>
            <a:off x="9212580" y="2521915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9212580" y="25219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label-3"/>
          <p:cNvSpPr txBox="1"/>
          <p:nvPr/>
        </p:nvSpPr>
        <p:spPr>
          <a:xfrm>
            <a:off x="9541764" y="2457907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일정 관리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개인·팀 일정 통합</a:t>
            </a:r>
            <a:endParaRPr lang="en-US" sz="1200" dirty="0"/>
          </a:p>
        </p:txBody>
      </p:sp>
      <p:sp>
        <p:nvSpPr>
          <p:cNvPr id="32" name="frame-4"/>
          <p:cNvSpPr/>
          <p:nvPr/>
        </p:nvSpPr>
        <p:spPr>
          <a:xfrm>
            <a:off x="9121140" y="3116275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screen-notice" descr="알림·메신저 화면 캡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0" y="3116275"/>
            <a:ext cx="2613355" cy="1470355"/>
          </a:xfrm>
          <a:prstGeom prst="rect">
            <a:avLst/>
          </a:prstGeom>
        </p:spPr>
      </p:pic>
      <p:sp>
        <p:nvSpPr>
          <p:cNvPr id="34" name="label-bg-4"/>
          <p:cNvSpPr/>
          <p:nvPr/>
        </p:nvSpPr>
        <p:spPr>
          <a:xfrm>
            <a:off x="9121140" y="4202582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35" name="badge-4"/>
          <p:cNvSpPr/>
          <p:nvPr/>
        </p:nvSpPr>
        <p:spPr>
          <a:xfrm>
            <a:off x="9212580" y="426659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9212580" y="42665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label-4"/>
          <p:cNvSpPr txBox="1"/>
          <p:nvPr/>
        </p:nvSpPr>
        <p:spPr>
          <a:xfrm>
            <a:off x="9541764" y="4202582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알림·메신저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실시간 업무 소통</a:t>
            </a:r>
            <a:endParaRPr lang="en-US" sz="1200" dirty="0"/>
          </a:p>
        </p:txBody>
      </p:sp>
      <p:sp>
        <p:nvSpPr>
          <p:cNvPr id="38" name="frame-5"/>
          <p:cNvSpPr/>
          <p:nvPr/>
        </p:nvSpPr>
        <p:spPr>
          <a:xfrm>
            <a:off x="457200" y="4860950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screen-approval" descr="전자결재 화면 캡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860950"/>
            <a:ext cx="2613355" cy="1470355"/>
          </a:xfrm>
          <a:prstGeom prst="rect">
            <a:avLst/>
          </a:prstGeom>
        </p:spPr>
      </p:pic>
      <p:sp>
        <p:nvSpPr>
          <p:cNvPr id="40" name="label-bg-5"/>
          <p:cNvSpPr/>
          <p:nvPr/>
        </p:nvSpPr>
        <p:spPr>
          <a:xfrm>
            <a:off x="457200" y="5947258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41" name="badge-5"/>
          <p:cNvSpPr/>
          <p:nvPr/>
        </p:nvSpPr>
        <p:spPr>
          <a:xfrm>
            <a:off x="548640" y="601126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548640" y="60112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label-5"/>
          <p:cNvSpPr txBox="1"/>
          <p:nvPr/>
        </p:nvSpPr>
        <p:spPr>
          <a:xfrm>
            <a:off x="877824" y="5947258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전자결재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기안부터 승인까지</a:t>
            </a:r>
            <a:endParaRPr lang="en-US" sz="1200" dirty="0"/>
          </a:p>
        </p:txBody>
      </p:sp>
      <p:sp>
        <p:nvSpPr>
          <p:cNvPr id="44" name="frame-6"/>
          <p:cNvSpPr/>
          <p:nvPr/>
        </p:nvSpPr>
        <p:spPr>
          <a:xfrm>
            <a:off x="3345180" y="4860950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screen-report" descr="데이터 리포트 화면 캡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180" y="4860950"/>
            <a:ext cx="2613355" cy="1470355"/>
          </a:xfrm>
          <a:prstGeom prst="rect">
            <a:avLst/>
          </a:prstGeom>
        </p:spPr>
      </p:pic>
      <p:sp>
        <p:nvSpPr>
          <p:cNvPr id="46" name="label-bg-6"/>
          <p:cNvSpPr/>
          <p:nvPr/>
        </p:nvSpPr>
        <p:spPr>
          <a:xfrm>
            <a:off x="3345180" y="5947258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47" name="badge-6"/>
          <p:cNvSpPr/>
          <p:nvPr/>
        </p:nvSpPr>
        <p:spPr>
          <a:xfrm>
            <a:off x="3436620" y="601126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3436620" y="60112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</a:t>
            </a:r>
            <a:endParaRPr lang="en-US" sz="1100" dirty="0"/>
          </a:p>
        </p:txBody>
      </p:sp>
      <p:sp>
        <p:nvSpPr>
          <p:cNvPr id="49" name="label-6"/>
          <p:cNvSpPr txBox="1"/>
          <p:nvPr/>
        </p:nvSpPr>
        <p:spPr>
          <a:xfrm>
            <a:off x="3765804" y="5947258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데이터 리포트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핵심 지표 시각화</a:t>
            </a:r>
            <a:endParaRPr lang="en-US" sz="1200" dirty="0"/>
          </a:p>
        </p:txBody>
      </p:sp>
      <p:sp>
        <p:nvSpPr>
          <p:cNvPr id="50" name="frame-7"/>
          <p:cNvSpPr/>
          <p:nvPr/>
        </p:nvSpPr>
        <p:spPr>
          <a:xfrm>
            <a:off x="6233160" y="4860950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1" name="screen-mypage" descr="마이페이지 화면 캡처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160" y="4860950"/>
            <a:ext cx="2613355" cy="1470355"/>
          </a:xfrm>
          <a:prstGeom prst="rect">
            <a:avLst/>
          </a:prstGeom>
        </p:spPr>
      </p:pic>
      <p:sp>
        <p:nvSpPr>
          <p:cNvPr id="52" name="label-bg-7"/>
          <p:cNvSpPr/>
          <p:nvPr/>
        </p:nvSpPr>
        <p:spPr>
          <a:xfrm>
            <a:off x="6233160" y="5947258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53" name="badge-7"/>
          <p:cNvSpPr/>
          <p:nvPr/>
        </p:nvSpPr>
        <p:spPr>
          <a:xfrm>
            <a:off x="6324600" y="601126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6324600" y="60112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</a:t>
            </a:r>
            <a:endParaRPr lang="en-US" sz="1100" dirty="0"/>
          </a:p>
        </p:txBody>
      </p:sp>
      <p:sp>
        <p:nvSpPr>
          <p:cNvPr id="55" name="label-7"/>
          <p:cNvSpPr txBox="1"/>
          <p:nvPr/>
        </p:nvSpPr>
        <p:spPr>
          <a:xfrm>
            <a:off x="6653784" y="5947258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마이페이지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내 정보·권한 관리</a:t>
            </a:r>
            <a:endParaRPr lang="en-US" sz="1200" dirty="0"/>
          </a:p>
        </p:txBody>
      </p:sp>
      <p:sp>
        <p:nvSpPr>
          <p:cNvPr id="56" name="frame-8"/>
          <p:cNvSpPr/>
          <p:nvPr/>
        </p:nvSpPr>
        <p:spPr>
          <a:xfrm>
            <a:off x="9121140" y="4860950"/>
            <a:ext cx="2613355" cy="14703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7" name="screen-mobile" descr="모바일 지원 화면 캡처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1140" y="4860950"/>
            <a:ext cx="2613355" cy="1470355"/>
          </a:xfrm>
          <a:prstGeom prst="rect">
            <a:avLst/>
          </a:prstGeom>
        </p:spPr>
      </p:pic>
      <p:sp>
        <p:nvSpPr>
          <p:cNvPr id="58" name="label-bg-8"/>
          <p:cNvSpPr/>
          <p:nvPr/>
        </p:nvSpPr>
        <p:spPr>
          <a:xfrm>
            <a:off x="9121140" y="5947258"/>
            <a:ext cx="2613355" cy="384048"/>
          </a:xfrm>
          <a:prstGeom prst="rect">
            <a:avLst/>
          </a:prstGeom>
          <a:solidFill>
            <a:schemeClr val="tx1">
              <a:alpha val="82000"/>
            </a:schemeClr>
          </a:solidFill>
          <a:ln/>
        </p:spPr>
      </p:sp>
      <p:sp>
        <p:nvSpPr>
          <p:cNvPr id="59" name="badge-8"/>
          <p:cNvSpPr/>
          <p:nvPr/>
        </p:nvSpPr>
        <p:spPr>
          <a:xfrm>
            <a:off x="9212580" y="601126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0" name="Text 49"/>
          <p:cNvSpPr txBox="1"/>
          <p:nvPr/>
        </p:nvSpPr>
        <p:spPr>
          <a:xfrm>
            <a:off x="9212580" y="60112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8</a:t>
            </a:r>
            <a:endParaRPr lang="en-US" sz="1100" dirty="0"/>
          </a:p>
        </p:txBody>
      </p:sp>
      <p:sp>
        <p:nvSpPr>
          <p:cNvPr id="61" name="label-8"/>
          <p:cNvSpPr txBox="1"/>
          <p:nvPr/>
        </p:nvSpPr>
        <p:spPr>
          <a:xfrm>
            <a:off x="9541764" y="5947258"/>
            <a:ext cx="21378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모바일 지원  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언제 어디서나 접속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 Intro">
  <a:themeElements>
    <a:clrScheme name="Portal Intro">
      <a:dk1>
        <a:srgbClr val="0F1B2D"/>
      </a:dk1>
      <a:lt1>
        <a:srgbClr val="FFFFFF"/>
      </a:lt1>
      <a:dk2>
        <a:srgbClr val="1C2B42"/>
      </a:dk2>
      <a:lt2>
        <a:srgbClr val="E8EEF6"/>
      </a:lt2>
      <a:accent1>
        <a:srgbClr val="2EC4B6"/>
      </a:accent1>
      <a:accent2>
        <a:srgbClr val="F6C177"/>
      </a:accent2>
      <a:accent3>
        <a:srgbClr val="7FB8E6"/>
      </a:accent3>
      <a:accent4>
        <a:srgbClr val="9FB7D6"/>
      </a:accent4>
      <a:accent5>
        <a:srgbClr val="5B6B82"/>
      </a:accent5>
      <a:accent6>
        <a:srgbClr val="E76F51"/>
      </a:accent6>
      <a:hlink>
        <a:srgbClr val="2EC4B6"/>
      </a:hlink>
      <a:folHlink>
        <a:srgbClr val="9FB7D6"/>
      </a:folHlink>
    </a:clrScheme>
    <a:fontScheme name="Portal Intr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OOO 통합 포털 소개</dc:title>
  <dc:subject>PptxGenJS Presentation</dc:subject>
  <dc:creator>PptxGenJS</dc:creator>
  <cp:lastModifiedBy>PptxGenJS</cp:lastModifiedBy>
  <cp:revision>1</cp:revision>
  <dcterms:created xsi:type="dcterms:W3CDTF">2026-10-25T09:30:32Z</dcterms:created>
  <dcterms:modified xsi:type="dcterms:W3CDTF">2026-10-25T09:30:32Z</dcterms:modified>
</cp:coreProperties>
</file>